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hkel Nugis" userId="147e2f29-4501-45b3-8d2b-0a3f0bc4fbae" providerId="ADAL" clId="{19F9C2E8-51A5-4117-AA1C-CDF822D93710}"/>
    <pc:docChg chg="modSld">
      <pc:chgData name="Mihkel Nugis" userId="147e2f29-4501-45b3-8d2b-0a3f0bc4fbae" providerId="ADAL" clId="{19F9C2E8-51A5-4117-AA1C-CDF822D93710}" dt="2026-06-06T15:10:46.208" v="26" actId="1037"/>
      <pc:docMkLst>
        <pc:docMk/>
      </pc:docMkLst>
      <pc:sldChg chg="modSp mod">
        <pc:chgData name="Mihkel Nugis" userId="147e2f29-4501-45b3-8d2b-0a3f0bc4fbae" providerId="ADAL" clId="{19F9C2E8-51A5-4117-AA1C-CDF822D93710}" dt="2026-06-06T15:10:07.899" v="18" actId="1035"/>
        <pc:sldMkLst>
          <pc:docMk/>
          <pc:sldMk cId="0" sldId="256"/>
        </pc:sldMkLst>
        <pc:spChg chg="mod">
          <ac:chgData name="Mihkel Nugis" userId="147e2f29-4501-45b3-8d2b-0a3f0bc4fbae" providerId="ADAL" clId="{19F9C2E8-51A5-4117-AA1C-CDF822D93710}" dt="2026-06-06T15:10:07.899" v="18" actId="1035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Mihkel Nugis" userId="147e2f29-4501-45b3-8d2b-0a3f0bc4fbae" providerId="ADAL" clId="{19F9C2E8-51A5-4117-AA1C-CDF822D93710}" dt="2026-06-06T15:10:46.208" v="26" actId="1037"/>
        <pc:sldMkLst>
          <pc:docMk/>
          <pc:sldMk cId="0" sldId="259"/>
        </pc:sldMkLst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7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9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7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3172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Hoonete soojakadu ja renoveerimisprioriteedid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DD7EE"/>
                </a:solidFill>
              </a:rPr>
              <a:t>Andmeinseneeria kursuse grupitöö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Anna-Liisa Altmets  ·  Erkki Laaneoks  ·  Mihkel Nugis  ·  Toel Teemaa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DD7EE"/>
                </a:solidFill>
              </a:rPr>
              <a:t>Millistesse omavalitsustesse läheb kõige rohkem soojusenergiat raisku
ning kus annab renoveerimine kõige suurema efekti?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Probleem ja andmeallikad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76B"/>
                </a:solidFill>
              </a:rPr>
              <a:t>Miks see oluline 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Eesti hoonefondist suur osa ehitatud nõukogude ajal — halb soojustus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Soojus läheb läbi seinte ja katuste kaduma → kõrged energiarved + CO₂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Riiklikud renoveerimiseesmärgid nõuavad andmepõhist prioritiseerimist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Küsimus: kus oleks renoveerimine kõige suurema mõjuga?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430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76B"/>
                </a:solidFill>
              </a:rPr>
              <a:t>Kolm andmeallikat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0" y="182880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745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Ehitisregister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860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~300 000 hoonet
ehitusaasta · pindala · asukoht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324612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329183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Open-Meteo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7033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Päevased keskmised temperatuurid
6 ilmajaamast üle Eesti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466344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7091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Elering / Nord Pool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12064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Tunnihinnad börsil (€/MWh)
Tegelik tarbimine (MWh)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Metoodika: soojakao arvutus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188720"/>
            <a:ext cx="9418320" cy="118872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54480" y="1325880"/>
            <a:ext cx="9052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76B"/>
                </a:solidFill>
              </a:rPr>
              <a:t>Soojakadu (kWh)  =  U-väärtus  ×  Pindala  ×  (21°C − Õhutemperatuur)  ×  24h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U-väärtus (W/m²K)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Näitab soojapidavust.
Vanem hoone = suurem U = rohkem kadu.
Lookup-tabel ehitusaasta järgi.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Temperatuurivahe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Sisetemperatuur 21 °C miinus
tegelik välisõhu temp.
Külmem ilm = suurem kadu.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8388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Agregeerib iga päev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Arvutus iga hoone × iga päev.
Summa omavalitsuse tasemele.
~110 mln rida aastas.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6235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B376B"/>
                </a:solidFill>
              </a:rPr>
              <a:t>Tulemus: neli mõõdikut iga omavalitsuse kohta — intensiivsus · ilmastikutundlikkus · renoveerimispotentsiaal · mudeli valideerimine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Tehniline arhitektuur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280160"/>
            <a:ext cx="2103120" cy="164592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Andmeallikad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Ehitisregister
Open-Meteo
Elering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8568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87752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79192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Airflow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Iga-päevane
DAG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46904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38344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2624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Toortabelid
(UPSERT)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06056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97496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dbt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6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Staging →
Intermediate
→ Marts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280160"/>
            <a:ext cx="2103120" cy="164592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56648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Superset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Interaktiivne
kaart ja
graafikud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dbt kihid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49039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377647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794759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Andmete puhastamine ja normaliseerimine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43400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437083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38912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Soojakao arvutus (~110 mln rida/aastas)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37760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49651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498348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Lõplikud analüütilised tabelid Superseti jaoks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246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Kvaliteet ja infrastruktuur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49039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dbt test — automaatsed andmekvaliteedi testid peale iga laadimist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dbt snapshot — omavalitsuste ühinemiste jälgimine (SCD Type 2)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Docker Compose — kogu keskkond käivitub ühe käsuga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GitHub — versioonikontroll, meeskonna koostöö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Tulemused: neli mõõdikut omavalitsuste kaupa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2743200" cy="64008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Soojakao intensiivsus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kWh/m²/aastas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Mida suurem, seda halvem soojapidavus.
Piirkondlik pingerida — kus on kõige külmemad hooned?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188720"/>
            <a:ext cx="27432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Ilmastikutundlikkus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Pearsoni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Kui tugevalt korreleerub soojakadu
välistemperatuuriga? (–1 kuni +1)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188720"/>
            <a:ext cx="274320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Renoveerimispotentsiaal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€ / aastas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Potentsiaalne aastane kokkuhoid eurodes,
kui viia intensiivsus 50 kWh/m²-ni.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188720"/>
            <a:ext cx="2743200" cy="64008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Mudeli valideerimine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9828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Pearsoni r + KAV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Mudeli soojakadu vs. tegelik Eleringi
tarbimine — kui täpne mudel on?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23360"/>
            <a:ext cx="1124712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Visualiseerimine — Apache Superset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17720"/>
            <a:ext cx="10972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Interaktiivne kaart: soojakao intensiivsus Eesti omavalitsuste kaupa (choropleth)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Tulpdiagramm: Top-20 omavalitsust renoveerimispotentsiaali järgi (€/aastas)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Hajuvusdiagramm: ilmastikutundlikkus vs soojakao intensiivsus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Ajagraafik: mudeli vs tegeliku tarbimise võrdlus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Tööjaotus ja kokkuvõte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88720"/>
            <a:ext cx="2697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Toel Teemaa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Andmete laadimine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Airflow DAG-id, API integratsioonid (Open-Meteo, Elering, Nord Pool)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36392" y="1188720"/>
            <a:ext cx="2697480" cy="59436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27832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Erkki Laaneoks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6392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82112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Teisendused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dbt mudelid, soojakao arvutus, mart-kiht, pearson_r makro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44184" y="1188720"/>
            <a:ext cx="2697480" cy="59436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Mihkel Nugis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4184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9904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Andmekvaliteet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4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dbt testid, vigade diagnoos, andmete valideerimise automatiseerimine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188720"/>
            <a:ext cx="2697480" cy="5943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43416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Anna-Liisa Altmets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51976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97696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Visualiseerimine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Superset näidikulaud, äriküsimuse sidumine tulemustega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840480"/>
            <a:ext cx="11430000" cy="2697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Kokkuvõte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3484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Ühendame 300 000 hoone andmed ilmaandmete ja energiahindadega → omavalitsuste pingerida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Automatiseeritud torujuhe: Airflow + dbt + PostgreSQL + Superset, kõik Dockeris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Andmekvaliteedi testid tagavad tulemuste usaldusväärsuse (automaatne kontroll iga laadimise järel)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Tulemus on praktiline tööriist renoveerimiseelarve suunamiseks seal, kus mõju on suurim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931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76B"/>
                </a:solidFill>
              </a:rPr>
              <a:t>Stack: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4343400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49640" y="4361688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Apache Airflow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4764024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478231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dbt Core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5184648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49640" y="5202936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5605272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49640" y="5623559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Apache Superset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0" y="6025896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9640" y="6044183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Docker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574</Words>
  <Application>Microsoft Office PowerPoint</Application>
  <PresentationFormat>Custom</PresentationFormat>
  <Paragraphs>95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Mihkel Nugis</cp:lastModifiedBy>
  <cp:revision>1</cp:revision>
  <dcterms:created xsi:type="dcterms:W3CDTF">2013-01-27T09:14:16Z</dcterms:created>
  <dcterms:modified xsi:type="dcterms:W3CDTF">2026-06-06T15:10:51Z</dcterms:modified>
  <cp:category/>
</cp:coreProperties>
</file>