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3" r:id="rId9"/>
    <p:sldId id="261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hkel Nugis" userId="147e2f29-4501-45b3-8d2b-0a3f0bc4fbae" providerId="ADAL" clId="{19F9C2E8-51A5-4117-AA1C-CDF822D93710}"/>
    <pc:docChg chg="custSel addSld modSld sldOrd">
      <pc:chgData name="Mihkel Nugis" userId="147e2f29-4501-45b3-8d2b-0a3f0bc4fbae" providerId="ADAL" clId="{19F9C2E8-51A5-4117-AA1C-CDF822D93710}" dt="2026-06-07T10:55:39.588" v="80"/>
      <pc:docMkLst>
        <pc:docMk/>
      </pc:docMkLst>
      <pc:sldChg chg="modSp mod">
        <pc:chgData name="Mihkel Nugis" userId="147e2f29-4501-45b3-8d2b-0a3f0bc4fbae" providerId="ADAL" clId="{19F9C2E8-51A5-4117-AA1C-CDF822D93710}" dt="2026-06-06T15:10:07.899" v="18" actId="1035"/>
        <pc:sldMkLst>
          <pc:docMk/>
          <pc:sldMk cId="0" sldId="256"/>
        </pc:sldMkLst>
        <pc:spChg chg="mod">
          <ac:chgData name="Mihkel Nugis" userId="147e2f29-4501-45b3-8d2b-0a3f0bc4fbae" providerId="ADAL" clId="{19F9C2E8-51A5-4117-AA1C-CDF822D93710}" dt="2026-06-06T15:10:07.899" v="18" actId="1035"/>
          <ac:spMkLst>
            <pc:docMk/>
            <pc:sldMk cId="0" sldId="256"/>
            <ac:spMk id="2" creationId="{00000000-0000-0000-0000-000000000000}"/>
          </ac:spMkLst>
        </pc:spChg>
      </pc:sldChg>
      <pc:sldChg chg="modSp mod">
        <pc:chgData name="Mihkel Nugis" userId="147e2f29-4501-45b3-8d2b-0a3f0bc4fbae" providerId="ADAL" clId="{19F9C2E8-51A5-4117-AA1C-CDF822D93710}" dt="2026-06-06T15:10:46.208" v="26" actId="1037"/>
        <pc:sldMkLst>
          <pc:docMk/>
          <pc:sldMk cId="0" sldId="259"/>
        </pc:sldMkLst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7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15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6T15:10:46.208" v="26" actId="1037"/>
          <ac:spMkLst>
            <pc:docMk/>
            <pc:sldMk cId="0" sldId="259"/>
            <ac:spMk id="19" creationId="{00000000-0000-0000-0000-000000000000}"/>
          </ac:spMkLst>
        </pc:spChg>
      </pc:sldChg>
      <pc:sldChg chg="ord">
        <pc:chgData name="Mihkel Nugis" userId="147e2f29-4501-45b3-8d2b-0a3f0bc4fbae" providerId="ADAL" clId="{19F9C2E8-51A5-4117-AA1C-CDF822D93710}" dt="2026-06-07T10:55:39.588" v="80"/>
        <pc:sldMkLst>
          <pc:docMk/>
          <pc:sldMk cId="0" sldId="261"/>
        </pc:sldMkLst>
      </pc:sldChg>
      <pc:sldChg chg="addSp delSp modSp mod">
        <pc:chgData name="Mihkel Nugis" userId="147e2f29-4501-45b3-8d2b-0a3f0bc4fbae" providerId="ADAL" clId="{19F9C2E8-51A5-4117-AA1C-CDF822D93710}" dt="2026-06-07T10:55:07.341" v="78" actId="404"/>
        <pc:sldMkLst>
          <pc:docMk/>
          <pc:sldMk cId="0" sldId="262"/>
        </pc:sldMkLst>
        <pc:spChg chg="mod">
          <ac:chgData name="Mihkel Nugis" userId="147e2f29-4501-45b3-8d2b-0a3f0bc4fbae" providerId="ADAL" clId="{19F9C2E8-51A5-4117-AA1C-CDF822D93710}" dt="2026-06-07T10:55:07.341" v="78" actId="404"/>
          <ac:spMkLst>
            <pc:docMk/>
            <pc:sldMk cId="0" sldId="262"/>
            <ac:spMk id="3" creationId="{00000000-0000-0000-0000-000000000000}"/>
          </ac:spMkLst>
        </pc:spChg>
        <pc:spChg chg="del">
          <ac:chgData name="Mihkel Nugis" userId="147e2f29-4501-45b3-8d2b-0a3f0bc4fbae" providerId="ADAL" clId="{19F9C2E8-51A5-4117-AA1C-CDF822D93710}" dt="2026-06-07T10:53:28.851" v="60" actId="478"/>
          <ac:spMkLst>
            <pc:docMk/>
            <pc:sldMk cId="0" sldId="262"/>
            <ac:spMk id="4" creationId="{00000000-0000-0000-0000-000000000000}"/>
          </ac:spMkLst>
        </pc:spChg>
        <pc:spChg chg="del">
          <ac:chgData name="Mihkel Nugis" userId="147e2f29-4501-45b3-8d2b-0a3f0bc4fbae" providerId="ADAL" clId="{19F9C2E8-51A5-4117-AA1C-CDF822D93710}" dt="2026-06-07T10:53:28.851" v="60" actId="478"/>
          <ac:spMkLst>
            <pc:docMk/>
            <pc:sldMk cId="0" sldId="262"/>
            <ac:spMk id="5" creationId="{00000000-0000-0000-0000-000000000000}"/>
          </ac:spMkLst>
        </pc:spChg>
        <pc:spChg chg="del">
          <ac:chgData name="Mihkel Nugis" userId="147e2f29-4501-45b3-8d2b-0a3f0bc4fbae" providerId="ADAL" clId="{19F9C2E8-51A5-4117-AA1C-CDF822D93710}" dt="2026-06-07T10:53:28.851" v="60" actId="478"/>
          <ac:spMkLst>
            <pc:docMk/>
            <pc:sldMk cId="0" sldId="262"/>
            <ac:spMk id="8" creationId="{00000000-0000-0000-0000-000000000000}"/>
          </ac:spMkLst>
        </pc:spChg>
        <pc:spChg chg="del">
          <ac:chgData name="Mihkel Nugis" userId="147e2f29-4501-45b3-8d2b-0a3f0bc4fbae" providerId="ADAL" clId="{19F9C2E8-51A5-4117-AA1C-CDF822D93710}" dt="2026-06-07T10:53:28.851" v="60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Mihkel Nugis" userId="147e2f29-4501-45b3-8d2b-0a3f0bc4fbae" providerId="ADAL" clId="{19F9C2E8-51A5-4117-AA1C-CDF822D93710}" dt="2026-06-07T10:53:28.851" v="60" actId="478"/>
          <ac:spMkLst>
            <pc:docMk/>
            <pc:sldMk cId="0" sldId="262"/>
            <ac:spMk id="14" creationId="{00000000-0000-0000-0000-000000000000}"/>
          </ac:spMkLst>
        </pc:spChg>
        <pc:spChg chg="del">
          <ac:chgData name="Mihkel Nugis" userId="147e2f29-4501-45b3-8d2b-0a3f0bc4fbae" providerId="ADAL" clId="{19F9C2E8-51A5-4117-AA1C-CDF822D93710}" dt="2026-06-07T10:53:28.851" v="60" actId="478"/>
          <ac:spMkLst>
            <pc:docMk/>
            <pc:sldMk cId="0" sldId="262"/>
            <ac:spMk id="15" creationId="{00000000-0000-0000-0000-000000000000}"/>
          </ac:spMkLst>
        </pc:spChg>
        <pc:spChg chg="del">
          <ac:chgData name="Mihkel Nugis" userId="147e2f29-4501-45b3-8d2b-0a3f0bc4fbae" providerId="ADAL" clId="{19F9C2E8-51A5-4117-AA1C-CDF822D93710}" dt="2026-06-07T10:53:28.851" v="60" actId="478"/>
          <ac:spMkLst>
            <pc:docMk/>
            <pc:sldMk cId="0" sldId="262"/>
            <ac:spMk id="21" creationId="{00000000-0000-0000-0000-000000000000}"/>
          </ac:spMkLst>
        </pc:spChg>
        <pc:spChg chg="del">
          <ac:chgData name="Mihkel Nugis" userId="147e2f29-4501-45b3-8d2b-0a3f0bc4fbae" providerId="ADAL" clId="{19F9C2E8-51A5-4117-AA1C-CDF822D93710}" dt="2026-06-07T10:53:28.851" v="60" actId="478"/>
          <ac:spMkLst>
            <pc:docMk/>
            <pc:sldMk cId="0" sldId="262"/>
            <ac:spMk id="22" creationId="{00000000-0000-0000-0000-000000000000}"/>
          </ac:spMkLst>
        </pc:spChg>
        <pc:spChg chg="del">
          <ac:chgData name="Mihkel Nugis" userId="147e2f29-4501-45b3-8d2b-0a3f0bc4fbae" providerId="ADAL" clId="{19F9C2E8-51A5-4117-AA1C-CDF822D93710}" dt="2026-06-07T10:53:28.851" v="60" actId="478"/>
          <ac:spMkLst>
            <pc:docMk/>
            <pc:sldMk cId="0" sldId="262"/>
            <ac:spMk id="23" creationId="{00000000-0000-0000-0000-000000000000}"/>
          </ac:spMkLst>
        </pc:spChg>
        <pc:spChg chg="del">
          <ac:chgData name="Mihkel Nugis" userId="147e2f29-4501-45b3-8d2b-0a3f0bc4fbae" providerId="ADAL" clId="{19F9C2E8-51A5-4117-AA1C-CDF822D93710}" dt="2026-06-07T10:53:28.851" v="60" actId="478"/>
          <ac:spMkLst>
            <pc:docMk/>
            <pc:sldMk cId="0" sldId="262"/>
            <ac:spMk id="24" creationId="{00000000-0000-0000-0000-000000000000}"/>
          </ac:spMkLst>
        </pc:spChg>
        <pc:picChg chg="add mod">
          <ac:chgData name="Mihkel Nugis" userId="147e2f29-4501-45b3-8d2b-0a3f0bc4fbae" providerId="ADAL" clId="{19F9C2E8-51A5-4117-AA1C-CDF822D93710}" dt="2026-06-07T10:54:13.489" v="65" actId="14100"/>
          <ac:picMkLst>
            <pc:docMk/>
            <pc:sldMk cId="0" sldId="262"/>
            <ac:picMk id="26" creationId="{88946612-FC63-165D-60EA-7785DD8D208B}"/>
          </ac:picMkLst>
        </pc:picChg>
      </pc:sldChg>
      <pc:sldChg chg="modSp mod">
        <pc:chgData name="Mihkel Nugis" userId="147e2f29-4501-45b3-8d2b-0a3f0bc4fbae" providerId="ADAL" clId="{19F9C2E8-51A5-4117-AA1C-CDF822D93710}" dt="2026-06-07T10:53:02.179" v="58" actId="1035"/>
        <pc:sldMkLst>
          <pc:docMk/>
          <pc:sldMk cId="0" sldId="263"/>
        </pc:sldMkLst>
        <pc:spChg chg="mod ord">
          <ac:chgData name="Mihkel Nugis" userId="147e2f29-4501-45b3-8d2b-0a3f0bc4fbae" providerId="ADAL" clId="{19F9C2E8-51A5-4117-AA1C-CDF822D93710}" dt="2026-06-07T10:53:02.179" v="58" actId="1035"/>
          <ac:spMkLst>
            <pc:docMk/>
            <pc:sldMk cId="0" sldId="263"/>
            <ac:spMk id="8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7T10:52:12.792" v="47" actId="1036"/>
          <ac:spMkLst>
            <pc:docMk/>
            <pc:sldMk cId="0" sldId="263"/>
            <ac:spMk id="9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7T10:52:12.792" v="47" actId="1036"/>
          <ac:spMkLst>
            <pc:docMk/>
            <pc:sldMk cId="0" sldId="263"/>
            <ac:spMk id="10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7T10:52:12.792" v="47" actId="1036"/>
          <ac:spMkLst>
            <pc:docMk/>
            <pc:sldMk cId="0" sldId="263"/>
            <ac:spMk id="11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7T10:52:12.792" v="47" actId="1036"/>
          <ac:spMkLst>
            <pc:docMk/>
            <pc:sldMk cId="0" sldId="263"/>
            <ac:spMk id="14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7T10:52:12.792" v="47" actId="1036"/>
          <ac:spMkLst>
            <pc:docMk/>
            <pc:sldMk cId="0" sldId="263"/>
            <ac:spMk id="16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7T10:52:12.792" v="47" actId="1036"/>
          <ac:spMkLst>
            <pc:docMk/>
            <pc:sldMk cId="0" sldId="263"/>
            <ac:spMk id="18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7T10:52:12.792" v="47" actId="1036"/>
          <ac:spMkLst>
            <pc:docMk/>
            <pc:sldMk cId="0" sldId="263"/>
            <ac:spMk id="20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7T10:52:12.792" v="47" actId="1036"/>
          <ac:spMkLst>
            <pc:docMk/>
            <pc:sldMk cId="0" sldId="263"/>
            <ac:spMk id="21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7T10:52:12.792" v="47" actId="103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Mihkel Nugis" userId="147e2f29-4501-45b3-8d2b-0a3f0bc4fbae" providerId="ADAL" clId="{19F9C2E8-51A5-4117-AA1C-CDF822D93710}" dt="2026-06-07T10:52:12.792" v="47" actId="1036"/>
          <ac:spMkLst>
            <pc:docMk/>
            <pc:sldMk cId="0" sldId="263"/>
            <ac:spMk id="23" creationId="{00000000-0000-0000-0000-000000000000}"/>
          </ac:spMkLst>
        </pc:spChg>
      </pc:sldChg>
      <pc:sldChg chg="add">
        <pc:chgData name="Mihkel Nugis" userId="147e2f29-4501-45b3-8d2b-0a3f0bc4fbae" providerId="ADAL" clId="{19F9C2E8-51A5-4117-AA1C-CDF822D93710}" dt="2026-06-07T10:53:16.073" v="59" actId="2890"/>
        <pc:sldMkLst>
          <pc:docMk/>
          <pc:sldMk cId="77741135" sldId="264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7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3172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Hoonete soojakadu ja renoveerimisprioriteedid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DD7EE"/>
                </a:solidFill>
              </a:rPr>
              <a:t>Andmeinseneeria kursuse grupitöö  ·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Anna-Liisa Altmets  ·  Erkki Laaneoks  ·  Mihkel Nugis  ·  Toel Teemaa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DD7EE"/>
                </a:solidFill>
              </a:rPr>
              <a:t>Millistesse omavalitsustesse läheb kõige rohkem soojusenergiat raisku
ning kus annab renoveerimine kõige suurema efekti?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Probleem ja andmeallikad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53949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76B"/>
                </a:solidFill>
              </a:rPr>
              <a:t>Miks see oluline 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Eesti hoonefondist suur osa ehitatud nõukogude ajal — halb soojustus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Soojus läheb läbi seinte ja katuste kaduma → kõrged energiarved + CO₂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Riiklikud renoveerimiseesmärgid nõuavad andmepõhist prioritiseerimist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404040"/>
                </a:solidFill>
              </a:rPr>
              <a:t>•  Küsimus: kus oleks renoveerimine kõige suurema mõjuga?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43000"/>
            <a:ext cx="5394960" cy="5120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76B"/>
                </a:solidFill>
              </a:rPr>
              <a:t>Kolm andmeallikat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37960" y="182880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7451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Ehitisregister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860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~300 000 hoonet
ehitusaasta · pindala · asukoht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324612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329183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Open-Meteo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7033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Päevased keskmised temperatuurid
6 ilmajaamast üle Eesti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4663440"/>
            <a:ext cx="5074920" cy="12344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20" y="470915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Elering / Nord Pool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12064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Tunnihinnad börsil (€/MWh)
Tegelik tarbimine (MWh)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Metoodika: soojakao arvutus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188720"/>
            <a:ext cx="9418320" cy="118872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54480" y="1325880"/>
            <a:ext cx="9052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76B"/>
                </a:solidFill>
              </a:rPr>
              <a:t>Soojakadu (kWh)  =  U-väärtus  ×  Pindala  ×  (21°C − Õhutemperatuur)  ×  24h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U-väärtus (W/m²K)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Näitab soojapidavust.
Vanem hoone = suurem U = rohkem kadu.
Lookup-tabel ehitusaasta järgi.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Temperatuurivahe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Sisetemperatuur 21 °C miinus
tegelik välisõhu temp.
Külmem ilm = suurem kadu.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651760"/>
            <a:ext cx="3566160" cy="2560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83880" y="271576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Agregeerib iga päev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32461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Arvutus iga hoone × iga päev.
Summa omavalitsuse tasemele.
~110 mln rida aastas.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6235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B376B"/>
                </a:solidFill>
              </a:rPr>
              <a:t>Tulemus: neli mõõdikut iga omavalitsuse kohta — intensiivsus · ilmastikutundlikkus · renoveerimispotentsiaal · mudeli valideerimine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Tehniline arhitektuur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280160"/>
            <a:ext cx="2103120" cy="164592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Andmeallikad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Ehitisregister
Open-Meteo
Elering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58568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87752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79192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Airflow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Iga-päevane
DAG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46904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38344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92624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Toortabelid
(UPSERT)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06056" y="1280160"/>
            <a:ext cx="2103120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97496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dbt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776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Staging →
Intermediate
→ Marts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6024" y="1737360"/>
            <a:ext cx="411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D7D31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65208" y="1280160"/>
            <a:ext cx="2103120" cy="164592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56648" y="132588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Superset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10928" y="182880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Interaktiivne
kaart ja
graafikud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246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dbt kihid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49039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11480" y="377647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Staging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794759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Andmete puhastamine ja normaliseerimine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343400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437083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4389120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Soojakao arvutus (~110 mln rida/aastas)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937760"/>
            <a:ext cx="146304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4965192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Marts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4983480"/>
            <a:ext cx="4114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Lõplikud analüütilised tabelid Superseti jaoks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3246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Kvaliteet ja infrastruktuur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749039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dbt test — automaatsed andmekvaliteedi testid peale iga laadimist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dbt snapshot — omavalitsuste ühinemiste jälgimine (SCD Type 2)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Docker Compose — kogu keskkond käivitub ühe käsuga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GitHub — versioonikontroll, meeskonna koostöö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Tulemused: neli mõõdikut omavalitsuste kaupa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88720"/>
            <a:ext cx="2743200" cy="64008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Soojakao intensiivsus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kWh/m²/aastas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Mida suurem, seda halvem soojapidavus.
Piirkondlik pingerida — kus on kõige külmemad hooned?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188720"/>
            <a:ext cx="274320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Ilmastikutundlikkus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Pearsoni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Kui tugevalt korreleerub soojakadu
välistemperatuuriga? (–1 kuni +1)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188720"/>
            <a:ext cx="2743200" cy="6400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Renoveerimispotentsiaal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€ / aastas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Potentsiaalne aastane kokkuhoid eurodes,
kui viia intensiivsus 50 kWh/m²-ni.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1188720"/>
            <a:ext cx="2743200" cy="640080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21615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Mudeli valideerimine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1828800"/>
            <a:ext cx="2743200" cy="4572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098280" y="1856231"/>
            <a:ext cx="26517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Pearsoni r + KAV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237744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Mudeli soojakadu vs. tegelik Eleringi
tarbimine — kui täpne mudel on?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23360"/>
            <a:ext cx="1124712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Visualiseerimine — Apache Superset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617720"/>
            <a:ext cx="109728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Interaktiivne kaart: soojakao intensiivsus Eesti omavalitsuste kaupa (choropleth)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Tulpdiagramm: Top-20 omavalitsust renoveerimispotentsiaali järgi (€/aastas)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Hajuvusdiagramm: ilmastikutundlikkus vs soojakao intensiivsus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404040"/>
                </a:solidFill>
              </a:rPr>
              <a:t>•  Ajagraafik: mudeli vs tegeliku tarbimise võrdlus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FFFFFF"/>
                </a:solidFill>
              </a:rPr>
              <a:t>Dashboard</a:t>
            </a:r>
            <a:r>
              <a:rPr lang="et-EE" sz="2800" b="1" dirty="0">
                <a:solidFill>
                  <a:srgbClr val="FFFFFF"/>
                </a:solidFill>
              </a:rPr>
              <a:t> (</a:t>
            </a:r>
            <a:r>
              <a:rPr lang="et-EE" sz="2000" b="1" dirty="0" err="1">
                <a:solidFill>
                  <a:srgbClr val="FFFFFF"/>
                </a:solidFill>
              </a:rPr>
              <a:t>Superset</a:t>
            </a:r>
            <a:r>
              <a:rPr lang="et-EE" sz="2800" b="1" dirty="0">
                <a:solidFill>
                  <a:srgbClr val="FFFFFF"/>
                </a:solidFill>
              </a:rPr>
              <a:t>)</a:t>
            </a:r>
            <a:endParaRPr sz="2800" b="1" dirty="0">
              <a:solidFill>
                <a:srgbClr val="FFFFFF"/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88946612-FC63-165D-60EA-7785DD8D20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99" y="1097280"/>
            <a:ext cx="9107171" cy="53480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92595B-C549-6798-E52C-50765AD9C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956753-80E1-044D-871C-359E89318A93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0B96F-5665-A6F4-47C6-377DB4EFB236}"/>
              </a:ext>
            </a:extLst>
          </p:cNvPr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Dashboard: põhitulemused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1ABF0C-2F81-2973-3E05-D1DAFC6476E9}"/>
              </a:ext>
            </a:extLst>
          </p:cNvPr>
          <p:cNvSpPr/>
          <p:nvPr/>
        </p:nvSpPr>
        <p:spPr>
          <a:xfrm>
            <a:off x="274320" y="1143000"/>
            <a:ext cx="2697480" cy="137160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A5AD3-3D38-FD03-6C87-26FC10AB0179}"/>
              </a:ext>
            </a:extLst>
          </p:cNvPr>
          <p:cNvSpPr txBox="1"/>
          <p:nvPr/>
        </p:nvSpPr>
        <p:spPr>
          <a:xfrm>
            <a:off x="365760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Soojakadu Eestis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3D3E1E-B619-50D2-7F8F-D3EB3F876AE8}"/>
              </a:ext>
            </a:extLst>
          </p:cNvPr>
          <p:cNvSpPr txBox="1"/>
          <p:nvPr/>
        </p:nvSpPr>
        <p:spPr>
          <a:xfrm>
            <a:off x="320040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9.26B kWh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BFE4CD-C8A4-DAA0-4C63-0C4C2C963305}"/>
              </a:ext>
            </a:extLst>
          </p:cNvPr>
          <p:cNvSpPr/>
          <p:nvPr/>
        </p:nvSpPr>
        <p:spPr>
          <a:xfrm>
            <a:off x="3182112" y="1143000"/>
            <a:ext cx="2697480" cy="13716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A94690-59FB-D18E-9BD3-EDF6569966DB}"/>
              </a:ext>
            </a:extLst>
          </p:cNvPr>
          <p:cNvSpPr txBox="1"/>
          <p:nvPr/>
        </p:nvSpPr>
        <p:spPr>
          <a:xfrm>
            <a:off x="3273552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Kulu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8D942-0826-1375-8A25-BF719D8E4BE5}"/>
              </a:ext>
            </a:extLst>
          </p:cNvPr>
          <p:cNvSpPr txBox="1"/>
          <p:nvPr/>
        </p:nvSpPr>
        <p:spPr>
          <a:xfrm>
            <a:off x="3227832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660M €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3E14F9-A7CB-F0A4-9098-72437606025A}"/>
              </a:ext>
            </a:extLst>
          </p:cNvPr>
          <p:cNvSpPr/>
          <p:nvPr/>
        </p:nvSpPr>
        <p:spPr>
          <a:xfrm>
            <a:off x="6089904" y="1143000"/>
            <a:ext cx="2697480" cy="1371600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0B4AB4-C55A-E9CE-6981-5A07135F26D3}"/>
              </a:ext>
            </a:extLst>
          </p:cNvPr>
          <p:cNvSpPr txBox="1"/>
          <p:nvPr/>
        </p:nvSpPr>
        <p:spPr>
          <a:xfrm>
            <a:off x="6181344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Säästupotentsiaal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336505-3B85-C77B-9FA7-CECFFB5C4312}"/>
              </a:ext>
            </a:extLst>
          </p:cNvPr>
          <p:cNvSpPr txBox="1"/>
          <p:nvPr/>
        </p:nvSpPr>
        <p:spPr>
          <a:xfrm>
            <a:off x="6135624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423M €/aastas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B55827-A508-9259-697D-441869BBBF3C}"/>
              </a:ext>
            </a:extLst>
          </p:cNvPr>
          <p:cNvSpPr/>
          <p:nvPr/>
        </p:nvSpPr>
        <p:spPr>
          <a:xfrm>
            <a:off x="8997696" y="1143000"/>
            <a:ext cx="2697480" cy="1371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EFFF0-A44D-E2C8-402C-5163EE8E69DD}"/>
              </a:ext>
            </a:extLst>
          </p:cNvPr>
          <p:cNvSpPr txBox="1"/>
          <p:nvPr/>
        </p:nvSpPr>
        <p:spPr>
          <a:xfrm>
            <a:off x="9089136" y="1188720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Keskmine intensiivsus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604A17-E63D-F4B1-7555-C5A6348992AA}"/>
              </a:ext>
            </a:extLst>
          </p:cNvPr>
          <p:cNvSpPr txBox="1"/>
          <p:nvPr/>
        </p:nvSpPr>
        <p:spPr>
          <a:xfrm>
            <a:off x="9043416" y="1691640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149.93 kWh/m²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33BBC5-154B-E515-1939-B3EFDE0480AC}"/>
              </a:ext>
            </a:extLst>
          </p:cNvPr>
          <p:cNvSpPr/>
          <p:nvPr/>
        </p:nvSpPr>
        <p:spPr>
          <a:xfrm>
            <a:off x="274320" y="2743200"/>
            <a:ext cx="3794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F62BDC-6C24-7AEB-1999-02039F305230}"/>
              </a:ext>
            </a:extLst>
          </p:cNvPr>
          <p:cNvSpPr txBox="1"/>
          <p:nvPr/>
        </p:nvSpPr>
        <p:spPr>
          <a:xfrm>
            <a:off x="384048" y="2807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</a:rPr>
              <a:t>Suurim vajadus renoveerimiseks (vajaduse skoor)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04881B-97FD-3862-3576-FF77332ECC11}"/>
              </a:ext>
            </a:extLst>
          </p:cNvPr>
          <p:cNvSpPr txBox="1"/>
          <p:nvPr/>
        </p:nvSpPr>
        <p:spPr>
          <a:xfrm>
            <a:off x="384048" y="3429000"/>
            <a:ext cx="3566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Lääneranna vald · Kihnu vald · Räpina vald · Toila vald · Kanepi vald
Mõõdik: soojakadu_kwh_aastas / kogupindala_m²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C410CB-001F-1DC5-9548-8CBFE4B5CB11}"/>
              </a:ext>
            </a:extLst>
          </p:cNvPr>
          <p:cNvSpPr/>
          <p:nvPr/>
        </p:nvSpPr>
        <p:spPr>
          <a:xfrm>
            <a:off x="4251959" y="2743200"/>
            <a:ext cx="3794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EE062A-81ED-71E7-E9A1-F584F23A121E}"/>
              </a:ext>
            </a:extLst>
          </p:cNvPr>
          <p:cNvSpPr txBox="1"/>
          <p:nvPr/>
        </p:nvSpPr>
        <p:spPr>
          <a:xfrm>
            <a:off x="4361688" y="2807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</a:rPr>
              <a:t>TOP 10 KOV — suurim aastane säästupotentsiaal (€)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6F2FE2-5530-077E-C959-3ABB11686633}"/>
              </a:ext>
            </a:extLst>
          </p:cNvPr>
          <p:cNvSpPr txBox="1"/>
          <p:nvPr/>
        </p:nvSpPr>
        <p:spPr>
          <a:xfrm>
            <a:off x="4361688" y="3429000"/>
            <a:ext cx="3566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Tallinn ~100M € · Tartu linn ~20M € · Pärnu linn · Narva linn
Kohtla-Järve · Saaremaa vald · Viljandi vald · Jõgeva vald · Elva vald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A2454F-B13C-5ADB-7046-505C3774C3ED}"/>
              </a:ext>
            </a:extLst>
          </p:cNvPr>
          <p:cNvSpPr/>
          <p:nvPr/>
        </p:nvSpPr>
        <p:spPr>
          <a:xfrm>
            <a:off x="8229600" y="2743200"/>
            <a:ext cx="3794760" cy="3474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85D1C1-F626-7D0B-8C60-DFB1C814532B}"/>
              </a:ext>
            </a:extLst>
          </p:cNvPr>
          <p:cNvSpPr txBox="1"/>
          <p:nvPr/>
        </p:nvSpPr>
        <p:spPr>
          <a:xfrm>
            <a:off x="8339327" y="2807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5B6"/>
                </a:solidFill>
              </a:rPr>
              <a:t>Investeeringu tasuvus — ROI vs tasuvusaeg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4CA468-122A-12A3-D6FA-F014BE7601EE}"/>
              </a:ext>
            </a:extLst>
          </p:cNvPr>
          <p:cNvSpPr txBox="1"/>
          <p:nvPr/>
        </p:nvSpPr>
        <p:spPr>
          <a:xfrm>
            <a:off x="8339327" y="3429000"/>
            <a:ext cx="3566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Kambja vald (ROI 3.4) · Saue vald (3.36) · Tori vald (3.31)
Rapla vald (3.21) — finantsiliselt kõige tasuvam renoveerimine</a:t>
            </a:r>
          </a:p>
        </p:txBody>
      </p:sp>
    </p:spTree>
    <p:extLst>
      <p:ext uri="{BB962C8B-B14F-4D97-AF65-F5344CB8AC3E}">
        <p14:creationId xmlns:p14="http://schemas.microsoft.com/office/powerpoint/2010/main" val="777411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Järeldused ja ärimeetrikud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143000"/>
            <a:ext cx="7132320" cy="4343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Peamised järeldused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6858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Finantsiliselt tasuvam: Kambja vald (ROI 3.4) ja Saue vald (ROI 3.36)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Suurim absoluutne säästupotentsiaal: Tallinn (üle 100M €/aastas)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Vajaduspõhiselt haavatavaimad: Lääneranna, Kihnu ja Räpina vald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Tallinna ja Tartu linna ROI on madalam (2.26–2.27), aga kogu mõju suurim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404040"/>
                </a:solidFill>
              </a:rPr>
              <a:t>•  Kokkuvõte: kõrge ROI → väiksemad vallad; suur säästusumma → linnad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143000"/>
            <a:ext cx="4206240" cy="434340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726679" y="137160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36408" y="1389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ROI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171907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sääst_eur_aastas
/ investeering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219456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36408" y="221284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VAJADUSE SKOOR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8" y="25420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soojakadu_kwh
/ kogupindala_m²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301752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36408" y="30358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INVESTEERING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8" y="336499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kogupindala_m² × 250
(€/m² proxy)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384048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36408" y="385876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PRIORITY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6408" y="418795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LOG(sääst+1) × LOG(skoor+1)
× LOG(pindala+1)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4663440"/>
            <a:ext cx="4069080" cy="74980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36408" y="468172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TASUVUS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501091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DD7EE"/>
                </a:solidFill>
              </a:rPr>
              <a:t>1 / NULLIF(roi, 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11556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>
                <a:solidFill>
                  <a:srgbClr val="FFFFFF"/>
                </a:solidFill>
              </a:rPr>
              <a:t>Ärimeetrikute </a:t>
            </a:r>
            <a:r>
              <a:rPr sz="1400" b="1" dirty="0" err="1">
                <a:solidFill>
                  <a:srgbClr val="FFFFFF"/>
                </a:solidFill>
              </a:rPr>
              <a:t>valemid</a:t>
            </a:r>
            <a:endParaRPr sz="14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Tööjaotus ja kokkuvõte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188720"/>
            <a:ext cx="2697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Toel Teemaa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Andmete laadimine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Airflow DAG-id, API integratsioonid (Open-Meteo, Elering, Nord Pool)</a:t>
            </a:r>
          </a:p>
        </p:txBody>
      </p:sp>
      <p:sp>
        <p:nvSpPr>
          <p:cNvPr id="9" name="Rectangle 8"/>
          <p:cNvSpPr/>
          <p:nvPr/>
        </p:nvSpPr>
        <p:spPr>
          <a:xfrm>
            <a:off x="3136392" y="1188720"/>
            <a:ext cx="2697480" cy="594360"/>
          </a:xfrm>
          <a:prstGeom prst="rect">
            <a:avLst/>
          </a:prstGeom>
          <a:solidFill>
            <a:srgbClr val="1B3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27832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Erkki Laaneoks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36392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82112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Teisendused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2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dbt mudelid, soojakao arvutus, mart-kiht, pearson_r makro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44184" y="1188720"/>
            <a:ext cx="2697480" cy="594360"/>
          </a:xfrm>
          <a:prstGeom prst="rect">
            <a:avLst/>
          </a:prstGeom>
          <a:solidFill>
            <a:srgbClr val="5A9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35624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Mihkel Nugis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44184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89904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Andmekvaliteet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5624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dbt testid, vigade diagnoos, andmete valideerimise automatiseerimine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188720"/>
            <a:ext cx="2697480" cy="5943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43416" y="1207008"/>
            <a:ext cx="2514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Anna-Liisa Altmets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51976" y="1783080"/>
            <a:ext cx="2697480" cy="43891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97696" y="1801368"/>
            <a:ext cx="2606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B376B"/>
                </a:solidFill>
              </a:rPr>
              <a:t>Visualiseerimine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3416" y="2286000"/>
            <a:ext cx="254203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04040"/>
                </a:solidFill>
              </a:rPr>
              <a:t>Superset näidikulaud, äriküsimuse sidumine tulemustega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840480"/>
            <a:ext cx="11430000" cy="2697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76B"/>
                </a:solidFill>
              </a:rPr>
              <a:t>Kokkuvõte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43484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Ühendame 300 000 hoone andmed ilmaandmete ja energiahindadega → omavalitsuste pingerida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Automatiseeritud torujuhe: Airflow + dbt + PostgreSQL + Superset, kõik Dockeris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Andmekvaliteedi testid tagavad tulemuste usaldusväärsuse (automaatne kontroll iga laadimise järel)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404040"/>
                </a:solidFill>
              </a:rPr>
              <a:t>•  Tulemus on praktiline tööriist renoveerimiseelarve suunamiseks seal, kus mõju on suurim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9319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76B"/>
                </a:solidFill>
              </a:rPr>
              <a:t>Stack: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3920" y="4343400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49640" y="4361688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Apache Airflow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0" y="4764024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49640" y="4782312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dbt Core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03920" y="5184648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49640" y="5202936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5605272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549640" y="5623559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Apache Superset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03920" y="6025896"/>
            <a:ext cx="292608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549640" y="6044183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Docker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845</Words>
  <Application>Microsoft Office PowerPoint</Application>
  <PresentationFormat>Custom</PresentationFormat>
  <Paragraphs>129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Mihkel Nugis</cp:lastModifiedBy>
  <cp:revision>1</cp:revision>
  <dcterms:created xsi:type="dcterms:W3CDTF">2013-01-27T09:14:16Z</dcterms:created>
  <dcterms:modified xsi:type="dcterms:W3CDTF">2026-06-07T10:55:50Z</dcterms:modified>
  <cp:category/>
</cp:coreProperties>
</file>