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hkel Nugis" userId="147e2f29-4501-45b3-8d2b-0a3f0bc4fbae" providerId="ADAL" clId="{19F9C2E8-51A5-4117-AA1C-CDF822D93710}"/>
    <pc:docChg chg="modSld">
      <pc:chgData name="Mihkel Nugis" userId="147e2f29-4501-45b3-8d2b-0a3f0bc4fbae" providerId="ADAL" clId="{19F9C2E8-51A5-4117-AA1C-CDF822D93710}" dt="2026-06-06T15:10:46.208" v="26" actId="1037"/>
      <pc:docMkLst>
        <pc:docMk/>
      </pc:docMkLst>
      <pc:sldChg chg="modSp mod">
        <pc:chgData name="Mihkel Nugis" userId="147e2f29-4501-45b3-8d2b-0a3f0bc4fbae" providerId="ADAL" clId="{19F9C2E8-51A5-4117-AA1C-CDF822D93710}" dt="2026-06-06T15:10:07.899" v="18" actId="1035"/>
        <pc:sldMkLst>
          <pc:docMk/>
          <pc:sldMk cId="0" sldId="256"/>
        </pc:sldMkLst>
        <pc:spChg chg="mod">
          <ac:chgData name="Mihkel Nugis" userId="147e2f29-4501-45b3-8d2b-0a3f0bc4fbae" providerId="ADAL" clId="{19F9C2E8-51A5-4117-AA1C-CDF822D93710}" dt="2026-06-06T15:10:07.899" v="18" actId="1035"/>
          <ac:spMkLst>
            <pc:docMk/>
            <pc:sldMk cId="0" sldId="256"/>
            <ac:spMk id="2" creationId="{00000000-0000-0000-0000-000000000000}"/>
          </ac:spMkLst>
        </pc:spChg>
      </pc:sldChg>
      <pc:sldChg chg="modSp mod">
        <pc:chgData name="Mihkel Nugis" userId="147e2f29-4501-45b3-8d2b-0a3f0bc4fbae" providerId="ADAL" clId="{19F9C2E8-51A5-4117-AA1C-CDF822D93710}" dt="2026-06-06T15:10:46.208" v="26" actId="1037"/>
        <pc:sldMkLst>
          <pc:docMk/>
          <pc:sldMk cId="0" sldId="259"/>
        </pc:sldMkLst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7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19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7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3172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Hoonete soojakadu ja renoveerimisprioriteedid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DD7EE"/>
                </a:solidFill>
              </a:rPr>
              <a:t>Andmeinseneeria kursuse grupitöö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Anna-Liisa Altmets  ·  Erkki Laaneoks  ·  Mihkel Nugis  ·  Toel Teemaa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DD7EE"/>
                </a:solidFill>
              </a:rPr>
              <a:t>Millistesse omavalitsustesse läheb kõige rohkem soojusenergiat raisku
ning kus annab renoveerimine kõige suurema efekti?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Probleem ja andmeallikad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53949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76B"/>
                </a:solidFill>
              </a:rPr>
              <a:t>Miks see oluline 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Eesti hoonefondist suur osa ehitatud nõukogude ajal — halb soojustus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Soojus läheb läbi seinte ja katuste kaduma → kõrged energiarved + CO₂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Riiklikud renoveerimiseesmärgid nõuavad andmepõhist prioritiseerimist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Küsimus: kus oleks renoveerimine kõige suurema mõjuga?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43000"/>
            <a:ext cx="53949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76B"/>
                </a:solidFill>
              </a:rPr>
              <a:t>Kolm andmeallikat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37960" y="182880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745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Ehitisregister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860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~300 000 hoonet
ehitusaasta · pindala · asukoht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324612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329183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Open-Meteo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7033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Päevased keskmised temperatuurid
6 ilmajaamast üle Eesti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466344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70915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Elering / Nord Pool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12064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Tunnihinnad börsil (€/MWh)
Tegelik tarbimine (MWh)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Metoodika: soojakao arvutus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188720"/>
            <a:ext cx="9418320" cy="118872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54480" y="1325880"/>
            <a:ext cx="9052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76B"/>
                </a:solidFill>
              </a:rPr>
              <a:t>Soojakadu (kWh)  =  U-väärtus  ×  Pindala  ×  (21°C − Õhutemperatuur)  ×  24h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U-väärtus (W/m²K)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Näitab soojapidavust.
Vanem hoone = suurem U = rohkem kadu.
Lookup-tabel ehitusaasta järgi.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Temperatuurivahe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Sisetemperatuur 21 °C miinus
tegelik välisõhu temp.
Külmem ilm = suurem kadu.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8388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Agregeerib iga päev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Arvutus iga hoone × iga päev.
Summa omavalitsuse tasemele.
~110 mln rida aastas.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6235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B376B"/>
                </a:solidFill>
              </a:rPr>
              <a:t>Tulemus: neli mõõdikut iga omavalitsuse kohta — intensiivsus · ilmastikutundlikkus · renoveerimispotentsiaal · mudeli valideerimine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Tehniline arhitektuur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280160"/>
            <a:ext cx="2103120" cy="164592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Andmeallikad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Ehitisregister
Open-Meteo
Elering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58568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87752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79192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Airflow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Iga-päevane
DAG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46904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38344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92624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Toortabelid
(UPSERT)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06056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97496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dbt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776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Staging →
Intermediate
→ Marts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65208" y="1280160"/>
            <a:ext cx="2103120" cy="164592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56648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Superset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Interaktiivne
kaart ja
graafikud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246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dbt kihid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49039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1480" y="377647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794759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Andmete puhastamine ja normaliseerimine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43400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437083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389120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Soojakao arvutus (~110 mln rida/aastas)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37760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496519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4983480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Lõplikud analüütilised tabelid Superseti jaoks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246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Kvaliteet ja infrastruktuur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749039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dbt test — automaatsed andmekvaliteedi testid peale iga laadimist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dbt snapshot — omavalitsuste ühinemiste jälgimine (SCD Type 2)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Docker Compose — kogu keskkond käivitub ühe käsuga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GitHub — versioonikontroll, meeskonna koostöö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Tulemused: neli mõõdikut omavalitsuste kaupa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2743200" cy="64008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Soojakao intensiivsus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kWh/m²/aastas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Mida suurem, seda halvem soojapidavus.
Piirkondlik pingerida — kus on kõige külmemad hooned?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188720"/>
            <a:ext cx="27432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Ilmastikutundlikkus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Pearsoni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Kui tugevalt korreleerub soojakadu
välistemperatuuriga? (–1 kuni +1)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188720"/>
            <a:ext cx="274320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Renoveerimispotentsiaal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€ / aastas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Potentsiaalne aastane kokkuhoid eurodes,
kui viia intensiivsus 50 kWh/m²-ni.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188720"/>
            <a:ext cx="2743200" cy="64008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Mudeli valideerimine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9828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Pearsoni r + KAV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Mudeli soojakadu vs. tegelik Eleringi
tarbimine — kui täpne mudel on?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23360"/>
            <a:ext cx="1124712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Visualiseerimine — Apache Superset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17720"/>
            <a:ext cx="10972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Interaktiivne kaart: soojakao intensiivsus Eesti omavalitsuste kaupa (choropleth)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Tulpdiagramm: Top-20 omavalitsust renoveerimispotentsiaali järgi (€/aastas)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Hajuvusdiagramm: ilmastikutundlikkus vs soojakao intensiivsus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Ajagraafik: mudeli vs tegeliku tarbimise võrdlus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Tööjaotus ja kokkuvõte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188720"/>
            <a:ext cx="2697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Toel Teemaa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Andmete laadimine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Airflow DAG-id, API integratsioonid (Open-Meteo, Elering, Nord Pool)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36392" y="1188720"/>
            <a:ext cx="2697480" cy="59436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27832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Erkki Laaneoks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36392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82112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Teisendused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dbt mudelid, soojakao arvutus, mart-kiht, pearson_r makro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44184" y="1188720"/>
            <a:ext cx="2697480" cy="59436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35624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Mihkel Nugis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44184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9904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Andmekvaliteet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5624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dbt testid, vigade diagnoos, andmete valideerimise automatiseerimine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188720"/>
            <a:ext cx="2697480" cy="5943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43416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Anna-Liisa Altmets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51976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97696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Visualiseerimine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Superset näidikulaud, äriküsimuse sidumine tulemustega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840480"/>
            <a:ext cx="11430000" cy="2697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Kokkuvõte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3484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Ühendame 300 000 hoone andmed ilmaandmete ja energiahindadega → omavalitsuste pingerida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Automatiseeritud torujuhe: Airflow + dbt + PostgreSQL + Superset, kõik Dockeris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Andmekvaliteedi testid tagavad tulemuste usaldusväärsuse (automaatne kontroll iga laadimise järel)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Tulemus on praktiline tööriist renoveerimiseelarve suunamiseks seal, kus mõju on suurim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931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76B"/>
                </a:solidFill>
              </a:rPr>
              <a:t>Stack: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4343400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49640" y="4361688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Apache Airflow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0" y="4764024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49640" y="4782312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dbt Core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03920" y="5184648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49640" y="5202936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5605272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549640" y="5623559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Apache Superset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0" y="6025896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9640" y="6044183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Docker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Dashboard: põhitulemused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2697480" cy="137160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Soojakadu Eestis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9.26B kWh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2112" y="1143000"/>
            <a:ext cx="2697480" cy="1371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3552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Kulu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27832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660M 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9904" y="1143000"/>
            <a:ext cx="2697480" cy="137160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1344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Säästupotentsiaal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5624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423M €/aastas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97696" y="1143000"/>
            <a:ext cx="2697480" cy="1371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9136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Keskmine intensiivsus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3416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149.93 kWh/m²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743200"/>
            <a:ext cx="3794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807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</a:rPr>
              <a:t>Suurim vajadus renoveerimiseks (vajaduse skoor)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429000"/>
            <a:ext cx="3566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Lääneranna vald · Kihnu vald · Räpina vald · Toila vald · Kanepi vald
Mõõdik: soojakadu_kwh_aastas / kogupindala_m²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2743200"/>
            <a:ext cx="3794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2807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</a:rPr>
              <a:t>TOP 10 KOV — suurim aastane säästupotentsiaal (€)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429000"/>
            <a:ext cx="3566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Tallinn ~100M € · Tartu linn ~20M € · Pärnu linn · Narva linn
Kohtla-Järve · Saaremaa vald · Viljandi vald · Jõgeva vald · Elva vald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743200"/>
            <a:ext cx="3794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807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</a:rPr>
              <a:t>Investeeringu tasuvus — ROI vs tasuvusaeg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429000"/>
            <a:ext cx="3566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Kambja vald (ROI 3.4) · Saue vald (3.36) · Tori vald (3.31)
Rapla vald (3.21) — finantsiliselt kõige tasuvam renoveerimine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Järeldused ja ärimeetrikud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7132320" cy="4343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Peamised järeldused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6858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Finantsiliselt tasuvam: Kambja vald (ROI 3.4) ja Saue vald (ROI 3.36)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Suurim absoluutne säästupotentsiaal: Tallinn (üle 100M €/aastas)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Vajaduspõhiselt haavatavaimad: Lääneranna, Kihnu ja Räpina vald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Tallinna ja Tartu linna ROI on madalam (2.26–2.27), aga kogu mõju suurim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Kokkuvõte: kõrge ROI → väiksemad vallad; suur säästusumma → linnad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143000"/>
            <a:ext cx="4206240" cy="434340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120700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Ärimeetrikute valemid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6679" y="178308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18013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ROI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13055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sääst_eur_aastas
/ investeering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260604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8" y="26243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VAJADUSE SKOOR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295351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soojakadu_kwh
/ kogupindala_m²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342900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36408" y="34472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INVESTEERING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8" y="377647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kogupindala_m² × 250
(€/m² proxy)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425196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36408" y="42702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PRIORITY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8" y="45994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LOG(sääst+1) × LOG(skoor+1)
× LOG(pindala+1)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507492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36408" y="50932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TASUVUS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542239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1 / NULLIF(roi, 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Dashboard: põhitulemused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2697480" cy="137160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Soojakadu Eestis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9.26B kWh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2112" y="1143000"/>
            <a:ext cx="2697480" cy="1371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3552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Kulu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27832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660M 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9904" y="1143000"/>
            <a:ext cx="2697480" cy="137160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1344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Säästupotentsiaal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5624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423M €/aastas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97696" y="1143000"/>
            <a:ext cx="2697480" cy="1371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9136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Keskmine intensiivsus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3416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149.93 kWh/m²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743200"/>
            <a:ext cx="3794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807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</a:rPr>
              <a:t>Suurim vajadus renoveerimiseks (vajaduse skoor)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429000"/>
            <a:ext cx="3566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Lääneranna vald · Kihnu vald · Räpina vald · Toila vald · Kanepi vald
Mõõdik: soojakadu_kwh_aastas / kogupindala_m²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2743200"/>
            <a:ext cx="3794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2807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</a:rPr>
              <a:t>TOP 10 KOV — suurim aastane säästupotentsiaal (€)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429000"/>
            <a:ext cx="3566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Tallinn ~100M € · Tartu linn ~20M € · Pärnu linn · Narva linn
Kohtla-Järve · Saaremaa vald · Viljandi vald · Jõgeva vald · Elva vald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743200"/>
            <a:ext cx="3794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807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</a:rPr>
              <a:t>Investeeringu tasuvus — ROI vs tasuvusaeg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429000"/>
            <a:ext cx="3566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Kambja vald (ROI 3.4) · Saue vald (3.36) · Tori vald (3.31)
Rapla vald (3.21) — finantsiliselt kõige tasuvam renoveerimine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Järeldused ja ärimeetrikud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7132320" cy="4343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Peamised järeldused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6858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Finantsiliselt tasuvam: Kambja vald (ROI 3.4) ja Saue vald (ROI 3.36)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Suurim absoluutne säästupotentsiaal: Tallinn (üle 100M €/aastas)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Vajaduspõhiselt haavatavaimad: Lääneranna, Kihnu ja Räpina vald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Tallinna ja Tartu linna ROI on madalam (2.26–2.27), aga kogu mõju suurim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Kokkuvõte: kõrge ROI → väiksemad vallad; suur säästusumma → linnad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143000"/>
            <a:ext cx="4206240" cy="434340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120700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Ärimeetrikute valemid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6679" y="178308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18013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ROI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13055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sääst_eur_aastas
/ investeering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260604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8" y="26243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VAJADUSE SKOOR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295351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soojakadu_kwh
/ kogupindala_m²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342900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36408" y="34472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INVESTEERING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8" y="377647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kogupindala_m² × 250
(€/m² proxy)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425196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36408" y="42702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PRIORITY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8" y="45994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LOG(sääst+1) × LOG(skoor+1)
× LOG(pindala+1)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507492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36408" y="50932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TASUVUS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542239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1 / NULLIF(roi, 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574</Words>
  <Application>Microsoft Office PowerPoint</Application>
  <PresentationFormat>Custom</PresentationFormat>
  <Paragraphs>95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Mihkel Nugis</cp:lastModifiedBy>
  <cp:revision>1</cp:revision>
  <dcterms:created xsi:type="dcterms:W3CDTF">2013-01-27T09:14:16Z</dcterms:created>
  <dcterms:modified xsi:type="dcterms:W3CDTF">2026-06-06T15:10:51Z</dcterms:modified>
  <cp:category/>
</cp:coreProperties>
</file>